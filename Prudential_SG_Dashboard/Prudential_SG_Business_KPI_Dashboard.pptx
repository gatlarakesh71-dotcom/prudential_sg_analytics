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95C3F"/>
              </a:solidFill>
              <a:effectLst/>
            </c:spPr>
          </c:dPt>
          <c:dPt>
            <c:idx val="1"/>
            <c:bubble3D val="0"/>
            <c:spPr>
              <a:solidFill>
                <a:srgbClr val="EAF0F5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Low-margin</c:v>
                </c:pt>
                <c:pt idx="1">
                  <c:v>Other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73.48</c:v>
                </c:pt>
                <c:pt idx="1">
                  <c:v>26.52</c:v>
                </c:pt>
              </c:numCache>
            </c:numRef>
          </c:val>
        </c:ser>
        <c:firstSliceAng val="0"/>
        <c:holeSize val="72"/>
      </c:doughnutChart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 %</c:v>
                </c:pt>
              </c:strCache>
            </c:strRef>
          </c:tx>
          <c:spPr>
            <a:solidFill>
              <a:srgbClr val="0C8F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324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C8F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AF2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5C3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AA68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Savings &amp; Wealth</c:v>
                  </c:pt>
                  <c:pt idx="1">
                    <c:v>Investment-Linked</c:v>
                  </c:pt>
                  <c:pt idx="2">
                    <c:v>Protection</c:v>
                  </c:pt>
                  <c:pt idx="3">
                    <c:v>Health &amp; IP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6.2</c:v>
                </c:pt>
                <c:pt idx="1">
                  <c:v>12.9</c:v>
                </c:pt>
                <c:pt idx="2">
                  <c:v>26.4</c:v>
                </c:pt>
                <c:pt idx="3">
                  <c:v>15.8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7324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 ratio</c:v>
                </c:pt>
              </c:strCache>
            </c:strRef>
          </c:tx>
          <c:spPr>
            <a:solidFill>
              <a:srgbClr val="D95C3F"/>
            </a:solidFill>
            <a:ln w="38100" cap="flat">
              <a:solidFill>
                <a:srgbClr val="D95C3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324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5C3F"/>
              </a:solidFill>
              <a:ln w="9525" cap="flat">
                <a:solidFill>
                  <a:srgbClr val="D95C3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</c:v>
                </c:pt>
                <c:pt idx="1">
                  <c:v>26.8</c:v>
                </c:pt>
                <c:pt idx="2">
                  <c:v>27.4</c:v>
                </c:pt>
                <c:pt idx="3">
                  <c:v>30.4</c:v>
                </c:pt>
                <c:pt idx="4">
                  <c:v>35.6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7324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7"/>
          <c:min val="2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Rate</c:v>
                </c:pt>
              </c:strCache>
            </c:strRef>
          </c:tx>
          <c:spPr>
            <a:solidFill>
              <a:srgbClr val="D95C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5C3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AF2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C8F9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Complaint rate</c:v>
                  </c:pt>
                  <c:pt idx="1">
                    <c:v>Control breach</c:v>
                  </c:pt>
                  <c:pt idx="2">
                    <c:v>Dispute rate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5.85</c:v>
                </c:pt>
                <c:pt idx="1">
                  <c:v>4.5</c:v>
                </c:pt>
                <c:pt idx="2">
                  <c:v>1.57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Complaint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C8F93"/>
              </a:solidFill>
              <a:effectLst/>
            </c:spPr>
          </c:dPt>
          <c:dPt>
            <c:idx val="1"/>
            <c:bubble3D val="0"/>
            <c:spPr>
              <a:solidFill>
                <a:srgbClr val="D95C3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Complaint-free</c:v>
                </c:pt>
                <c:pt idx="1">
                  <c:v>Complaints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94.15</c:v>
                </c:pt>
                <c:pt idx="1">
                  <c:v>5.85</c:v>
                </c:pt>
              </c:numCache>
            </c:numRef>
          </c:val>
        </c:ser>
        <c:firstSliceAng val="0"/>
        <c:holeSize val="72"/>
      </c:doughnutChart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720072" y="256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C8F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PRUDENTIAL | ANALYTICS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8890">
            <a:solidFill>
              <a:srgbClr val="D8E2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83680"/>
            <a:ext cx="4297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D9B"/>
                </a:solidFill>
              </a:rPr>
              <a:t>Prepared from governed KPI snapshot | 14 September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326880" y="6583680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D9B"/>
                </a:solidFill>
              </a:rPr>
              <a:t>Confidential business dashboard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8D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8D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chart" Target="../charts/chart5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</a:rPr>
              <a:t>Executive Cockpit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8091"/>
                </a:solidFill>
              </a:rPr>
              <a:t>Portfolio scale, profitability, retention and trust in one leadership view.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78308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8890">
            <a:solidFill>
              <a:srgbClr val="DD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89888"/>
            <a:ext cx="5852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b="1" dirty="0">
                <a:solidFill>
                  <a:srgbClr val="7C8E9F"/>
                </a:solidFill>
              </a:rPr>
              <a:t>PRODUCT</a:t>
            </a:r>
            <a:endParaRPr lang="en-US" sz="630" dirty="0"/>
          </a:p>
        </p:txBody>
      </p:sp>
      <p:sp>
        <p:nvSpPr>
          <p:cNvPr id="6" name="Text 4"/>
          <p:cNvSpPr/>
          <p:nvPr/>
        </p:nvSpPr>
        <p:spPr>
          <a:xfrm>
            <a:off x="1261872" y="1362456"/>
            <a:ext cx="9784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7324D"/>
                </a:solidFill>
              </a:rPr>
              <a:t>All products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2176272" y="136245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8091"/>
                </a:solidFill>
              </a:rPr>
              <a:t>▾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41448" y="1298448"/>
            <a:ext cx="16916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8890">
            <a:solidFill>
              <a:srgbClr val="DDE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32888" y="1389888"/>
            <a:ext cx="5852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b="1" dirty="0">
                <a:solidFill>
                  <a:srgbClr val="7C8E9F"/>
                </a:solidFill>
              </a:rPr>
              <a:t>KPI FOCUS</a:t>
            </a:r>
            <a:endParaRPr lang="en-US" sz="630" dirty="0"/>
          </a:p>
        </p:txBody>
      </p:sp>
      <p:sp>
        <p:nvSpPr>
          <p:cNvPr id="10" name="Text 8"/>
          <p:cNvSpPr/>
          <p:nvPr/>
        </p:nvSpPr>
        <p:spPr>
          <a:xfrm>
            <a:off x="3136392" y="1362456"/>
            <a:ext cx="886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7324D"/>
                </a:solidFill>
              </a:rPr>
              <a:t>All KPIs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3959352" y="136245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8091"/>
                </a:solidFill>
              </a:rPr>
              <a:t>▾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24528" y="1298448"/>
            <a:ext cx="196596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8890">
            <a:solidFill>
              <a:srgbClr val="DDE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15968" y="1389888"/>
            <a:ext cx="5852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b="1" dirty="0">
                <a:solidFill>
                  <a:srgbClr val="7C8E9F"/>
                </a:solidFill>
              </a:rPr>
              <a:t>DATA SCOPE</a:t>
            </a:r>
            <a:endParaRPr lang="en-US" sz="630" dirty="0"/>
          </a:p>
        </p:txBody>
      </p:sp>
      <p:sp>
        <p:nvSpPr>
          <p:cNvPr id="14" name="Text 12"/>
          <p:cNvSpPr/>
          <p:nvPr/>
        </p:nvSpPr>
        <p:spPr>
          <a:xfrm>
            <a:off x="4919472" y="1362456"/>
            <a:ext cx="1161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7324D"/>
                </a:solidFill>
              </a:rPr>
              <a:t>Governed snapshot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6016752" y="136245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8091"/>
                </a:solidFill>
              </a:rPr>
              <a:t>▾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66928" y="1792224"/>
            <a:ext cx="2487168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8255">
            <a:solidFill>
              <a:srgbClr val="DDE6ED"/>
            </a:solidFill>
            <a:prstDash val="solid"/>
          </a:ln>
          <a:effectLst>
            <a:outerShdw sx="100000" sy="100000" kx="0" ky="0" algn="bl" rotWithShape="0" blurRad="12700" dist="50800" dir="2700000">
              <a:srgbClr val="B5C4CF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1792224"/>
            <a:ext cx="54864" cy="932688"/>
          </a:xfrm>
          <a:prstGeom prst="rect">
            <a:avLst/>
          </a:prstGeom>
          <a:solidFill>
            <a:srgbClr val="0C8F93"/>
          </a:solidFill>
          <a:ln w="12700">
            <a:solidFill>
              <a:srgbClr val="0C8F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" y="1956816"/>
            <a:ext cx="2231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3778A"/>
                </a:solidFill>
              </a:rPr>
              <a:t>PORTFOLIO APE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722376" y="222199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7324D"/>
                </a:solidFill>
              </a:rPr>
              <a:t>SGD 856.30M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722376" y="2551176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8091"/>
                </a:solidFill>
              </a:rPr>
              <a:t>Annualised premium equivalent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3227832" y="1792224"/>
            <a:ext cx="2487168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8255">
            <a:solidFill>
              <a:srgbClr val="DDE6ED"/>
            </a:solidFill>
            <a:prstDash val="solid"/>
          </a:ln>
          <a:effectLst>
            <a:outerShdw sx="100000" sy="100000" kx="0" ky="0" algn="bl" rotWithShape="0" blurRad="12700" dist="50800" dir="2700000">
              <a:srgbClr val="B5C4CF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27832" y="1792224"/>
            <a:ext cx="54864" cy="932688"/>
          </a:xfrm>
          <a:prstGeom prst="rect">
            <a:avLst/>
          </a:prstGeom>
          <a:solidFill>
            <a:srgbClr val="E8AF2D"/>
          </a:solidFill>
          <a:ln w="12700">
            <a:solidFill>
              <a:srgbClr val="E8AF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1956816"/>
            <a:ext cx="2231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3778A"/>
                </a:solidFill>
              </a:rPr>
              <a:t>NBP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3383280" y="222199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7324D"/>
                </a:solidFill>
              </a:rPr>
              <a:t>SGD 76.77M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3383280" y="2551176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8091"/>
                </a:solidFill>
              </a:rPr>
              <a:t>New business profit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5888736" y="1792224"/>
            <a:ext cx="2487168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8255">
            <a:solidFill>
              <a:srgbClr val="DDE6ED"/>
            </a:solidFill>
            <a:prstDash val="solid"/>
          </a:ln>
          <a:effectLst>
            <a:outerShdw sx="100000" sy="100000" kx="0" ky="0" algn="bl" rotWithShape="0" blurRad="12700" dist="50800" dir="2700000">
              <a:srgbClr val="B5C4CF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888736" y="1792224"/>
            <a:ext cx="54864" cy="932688"/>
          </a:xfrm>
          <a:prstGeom prst="rect">
            <a:avLst/>
          </a:prstGeom>
          <a:solidFill>
            <a:srgbClr val="E8AF2D"/>
          </a:solidFill>
          <a:ln w="12700">
            <a:solidFill>
              <a:srgbClr val="E8AF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44184" y="1956816"/>
            <a:ext cx="2231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3778A"/>
                </a:solidFill>
              </a:rPr>
              <a:t>BLENDED MARGIN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6044184" y="222199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7324D"/>
                </a:solidFill>
              </a:rPr>
              <a:t>8.97%</a:t>
            </a:r>
            <a:endParaRPr lang="en-US" sz="1850" dirty="0"/>
          </a:p>
        </p:txBody>
      </p:sp>
      <p:sp>
        <p:nvSpPr>
          <p:cNvPr id="30" name="Text 28"/>
          <p:cNvSpPr/>
          <p:nvPr/>
        </p:nvSpPr>
        <p:spPr>
          <a:xfrm>
            <a:off x="6044184" y="2551176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8091"/>
                </a:solidFill>
              </a:rPr>
              <a:t>New business profit / APE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8549640" y="1792224"/>
            <a:ext cx="2487168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8255">
            <a:solidFill>
              <a:srgbClr val="DDE6ED"/>
            </a:solidFill>
            <a:prstDash val="solid"/>
          </a:ln>
          <a:effectLst>
            <a:outerShdw sx="100000" sy="100000" kx="0" ky="0" algn="bl" rotWithShape="0" blurRad="12700" dist="50800" dir="2700000">
              <a:srgbClr val="B5C4CF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549640" y="1792224"/>
            <a:ext cx="54864" cy="932688"/>
          </a:xfrm>
          <a:prstGeom prst="rect">
            <a:avLst/>
          </a:prstGeom>
          <a:solidFill>
            <a:srgbClr val="D95C3F"/>
          </a:solidFill>
          <a:ln w="12700">
            <a:solidFill>
              <a:srgbClr val="D95C3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05088" y="1956816"/>
            <a:ext cx="2231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3778A"/>
                </a:solidFill>
              </a:rPr>
              <a:t>LOW-MARGIN MIX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8705088" y="222199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7324D"/>
                </a:solidFill>
              </a:rPr>
              <a:t>73.48%</a:t>
            </a:r>
            <a:endParaRPr lang="en-US" sz="1850" dirty="0"/>
          </a:p>
        </p:txBody>
      </p:sp>
      <p:sp>
        <p:nvSpPr>
          <p:cNvPr id="35" name="Text 33"/>
          <p:cNvSpPr/>
          <p:nvPr/>
        </p:nvSpPr>
        <p:spPr>
          <a:xfrm>
            <a:off x="8705088" y="2551176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8091"/>
                </a:solidFill>
              </a:rPr>
              <a:t>APE from low-margin products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566928" y="2926080"/>
            <a:ext cx="2487168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8255">
            <a:solidFill>
              <a:srgbClr val="DDE6ED"/>
            </a:solidFill>
            <a:prstDash val="solid"/>
          </a:ln>
          <a:effectLst>
            <a:outerShdw sx="100000" sy="100000" kx="0" ky="0" algn="bl" rotWithShape="0" blurRad="12700" dist="50800" dir="2700000">
              <a:srgbClr val="B5C4CF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66928" y="2926080"/>
            <a:ext cx="54864" cy="932688"/>
          </a:xfrm>
          <a:prstGeom prst="rect">
            <a:avLst/>
          </a:prstGeom>
          <a:solidFill>
            <a:srgbClr val="D95C3F"/>
          </a:solidFill>
          <a:ln w="12700">
            <a:solidFill>
              <a:srgbClr val="D95C3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2376" y="3090672"/>
            <a:ext cx="2231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3778A"/>
                </a:solidFill>
              </a:rPr>
              <a:t>LAPSE RATE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722376" y="335584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7324D"/>
                </a:solidFill>
              </a:rPr>
              <a:t>9.48%</a:t>
            </a:r>
            <a:endParaRPr lang="en-US" sz="1850" dirty="0"/>
          </a:p>
        </p:txBody>
      </p:sp>
      <p:sp>
        <p:nvSpPr>
          <p:cNvPr id="40" name="Text 38"/>
          <p:cNvSpPr/>
          <p:nvPr/>
        </p:nvSpPr>
        <p:spPr>
          <a:xfrm>
            <a:off x="722376" y="3685032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8091"/>
                </a:solidFill>
              </a:rPr>
              <a:t>Policy retention pressure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3227832" y="2926080"/>
            <a:ext cx="2487168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8255">
            <a:solidFill>
              <a:srgbClr val="DDE6ED"/>
            </a:solidFill>
            <a:prstDash val="solid"/>
          </a:ln>
          <a:effectLst>
            <a:outerShdw sx="100000" sy="100000" kx="0" ky="0" algn="bl" rotWithShape="0" blurRad="12700" dist="50800" dir="2700000">
              <a:srgbClr val="B5C4CF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27832" y="2926080"/>
            <a:ext cx="54864" cy="932688"/>
          </a:xfrm>
          <a:prstGeom prst="rect">
            <a:avLst/>
          </a:prstGeom>
          <a:solidFill>
            <a:srgbClr val="D95C3F"/>
          </a:solidFill>
          <a:ln w="12700">
            <a:solidFill>
              <a:srgbClr val="D95C3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280" y="3090672"/>
            <a:ext cx="2231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3778A"/>
                </a:solidFill>
              </a:rPr>
              <a:t>13-MONTH FAILURE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3383280" y="335584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7324D"/>
                </a:solidFill>
              </a:rPr>
              <a:t>5.59%</a:t>
            </a:r>
            <a:endParaRPr lang="en-US" sz="1850" dirty="0"/>
          </a:p>
        </p:txBody>
      </p:sp>
      <p:sp>
        <p:nvSpPr>
          <p:cNvPr id="45" name="Text 43"/>
          <p:cNvSpPr/>
          <p:nvPr/>
        </p:nvSpPr>
        <p:spPr>
          <a:xfrm>
            <a:off x="3383280" y="3685032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8091"/>
                </a:solidFill>
              </a:rPr>
              <a:t>Persistency gap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5888736" y="2926080"/>
            <a:ext cx="2487168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8255">
            <a:solidFill>
              <a:srgbClr val="DDE6ED"/>
            </a:solidFill>
            <a:prstDash val="solid"/>
          </a:ln>
          <a:effectLst>
            <a:outerShdw sx="100000" sy="100000" kx="0" ky="0" algn="bl" rotWithShape="0" blurRad="12700" dist="50800" dir="2700000">
              <a:srgbClr val="B5C4CF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888736" y="2926080"/>
            <a:ext cx="54864" cy="932688"/>
          </a:xfrm>
          <a:prstGeom prst="rect">
            <a:avLst/>
          </a:prstGeom>
          <a:solidFill>
            <a:srgbClr val="0C8F93"/>
          </a:solidFill>
          <a:ln w="12700">
            <a:solidFill>
              <a:srgbClr val="0C8F9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44184" y="3090672"/>
            <a:ext cx="2231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3778A"/>
                </a:solidFill>
              </a:rPr>
              <a:t>CLAIMS</a:t>
            </a:r>
            <a:endParaRPr lang="en-US" sz="740" dirty="0"/>
          </a:p>
        </p:txBody>
      </p:sp>
      <p:sp>
        <p:nvSpPr>
          <p:cNvPr id="49" name="Text 47"/>
          <p:cNvSpPr/>
          <p:nvPr/>
        </p:nvSpPr>
        <p:spPr>
          <a:xfrm>
            <a:off x="6044184" y="335584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7324D"/>
                </a:solidFill>
              </a:rPr>
              <a:t>28,366</a:t>
            </a:r>
            <a:endParaRPr lang="en-US" sz="1850" dirty="0"/>
          </a:p>
        </p:txBody>
      </p:sp>
      <p:sp>
        <p:nvSpPr>
          <p:cNvPr id="50" name="Text 48"/>
          <p:cNvSpPr/>
          <p:nvPr/>
        </p:nvSpPr>
        <p:spPr>
          <a:xfrm>
            <a:off x="6044184" y="3685032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8091"/>
                </a:solidFill>
              </a:rPr>
              <a:t>Accepted claim records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8549640" y="2926080"/>
            <a:ext cx="2487168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8255">
            <a:solidFill>
              <a:srgbClr val="DDE6ED"/>
            </a:solidFill>
            <a:prstDash val="solid"/>
          </a:ln>
          <a:effectLst>
            <a:outerShdw sx="100000" sy="100000" kx="0" ky="0" algn="bl" rotWithShape="0" blurRad="12700" dist="50800" dir="2700000">
              <a:srgbClr val="B5C4CF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549640" y="2926080"/>
            <a:ext cx="54864" cy="932688"/>
          </a:xfrm>
          <a:prstGeom prst="rect">
            <a:avLst/>
          </a:prstGeom>
          <a:solidFill>
            <a:srgbClr val="D95C3F"/>
          </a:solidFill>
          <a:ln w="12700">
            <a:solidFill>
              <a:srgbClr val="D95C3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705088" y="3090672"/>
            <a:ext cx="2231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3778A"/>
                </a:solidFill>
              </a:rPr>
              <a:t>COMPLAINT RATE</a:t>
            </a:r>
            <a:endParaRPr lang="en-US" sz="740" dirty="0"/>
          </a:p>
        </p:txBody>
      </p:sp>
      <p:sp>
        <p:nvSpPr>
          <p:cNvPr id="54" name="Text 52"/>
          <p:cNvSpPr/>
          <p:nvPr/>
        </p:nvSpPr>
        <p:spPr>
          <a:xfrm>
            <a:off x="8705088" y="335584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7324D"/>
                </a:solidFill>
              </a:rPr>
              <a:t>5.85%</a:t>
            </a:r>
            <a:endParaRPr lang="en-US" sz="1850" dirty="0"/>
          </a:p>
        </p:txBody>
      </p:sp>
      <p:sp>
        <p:nvSpPr>
          <p:cNvPr id="55" name="Text 53"/>
          <p:cNvSpPr/>
          <p:nvPr/>
        </p:nvSpPr>
        <p:spPr>
          <a:xfrm>
            <a:off x="8705088" y="3685032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8091"/>
                </a:solidFill>
              </a:rPr>
              <a:t>Customer trust signal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566928" y="4059936"/>
            <a:ext cx="2487168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8255">
            <a:solidFill>
              <a:srgbClr val="DDE6ED"/>
            </a:solidFill>
            <a:prstDash val="solid"/>
          </a:ln>
          <a:effectLst>
            <a:outerShdw sx="100000" sy="100000" kx="0" ky="0" algn="bl" rotWithShape="0" blurRad="12700" dist="50800" dir="2700000">
              <a:srgbClr val="B5C4CF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66928" y="4059936"/>
            <a:ext cx="54864" cy="932688"/>
          </a:xfrm>
          <a:prstGeom prst="rect">
            <a:avLst/>
          </a:prstGeom>
          <a:solidFill>
            <a:srgbClr val="0C8F93"/>
          </a:solidFill>
          <a:ln w="12700">
            <a:solidFill>
              <a:srgbClr val="0C8F9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2376" y="4224528"/>
            <a:ext cx="2231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3778A"/>
                </a:solidFill>
              </a:rPr>
              <a:t>CLAIM TURNAROUND</a:t>
            </a:r>
            <a:endParaRPr lang="en-US" sz="740" dirty="0"/>
          </a:p>
        </p:txBody>
      </p:sp>
      <p:sp>
        <p:nvSpPr>
          <p:cNvPr id="59" name="Text 57"/>
          <p:cNvSpPr/>
          <p:nvPr/>
        </p:nvSpPr>
        <p:spPr>
          <a:xfrm>
            <a:off x="722376" y="4489704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7324D"/>
                </a:solidFill>
              </a:rPr>
              <a:t>19.4 days</a:t>
            </a:r>
            <a:endParaRPr lang="en-US" sz="1850" dirty="0"/>
          </a:p>
        </p:txBody>
      </p:sp>
      <p:sp>
        <p:nvSpPr>
          <p:cNvPr id="60" name="Text 58"/>
          <p:cNvSpPr/>
          <p:nvPr/>
        </p:nvSpPr>
        <p:spPr>
          <a:xfrm>
            <a:off x="722376" y="4818888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8091"/>
                </a:solidFill>
              </a:rPr>
              <a:t>Average processing time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3227832" y="4059936"/>
            <a:ext cx="2487168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8255">
            <a:solidFill>
              <a:srgbClr val="DDE6ED"/>
            </a:solidFill>
            <a:prstDash val="solid"/>
          </a:ln>
          <a:effectLst>
            <a:outerShdw sx="100000" sy="100000" kx="0" ky="0" algn="bl" rotWithShape="0" blurRad="12700" dist="50800" dir="2700000">
              <a:srgbClr val="B5C4CF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3227832" y="4059936"/>
            <a:ext cx="54864" cy="932688"/>
          </a:xfrm>
          <a:prstGeom prst="rect">
            <a:avLst/>
          </a:prstGeom>
          <a:solidFill>
            <a:srgbClr val="D95C3F"/>
          </a:solidFill>
          <a:ln w="12700">
            <a:solidFill>
              <a:srgbClr val="D95C3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83280" y="4224528"/>
            <a:ext cx="2231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3778A"/>
                </a:solidFill>
              </a:rPr>
              <a:t>CONTROL BREACHES</a:t>
            </a:r>
            <a:endParaRPr lang="en-US" sz="740" dirty="0"/>
          </a:p>
        </p:txBody>
      </p:sp>
      <p:sp>
        <p:nvSpPr>
          <p:cNvPr id="64" name="Text 62"/>
          <p:cNvSpPr/>
          <p:nvPr/>
        </p:nvSpPr>
        <p:spPr>
          <a:xfrm>
            <a:off x="3383280" y="4489704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7324D"/>
                </a:solidFill>
              </a:rPr>
              <a:t>4.50%</a:t>
            </a:r>
            <a:endParaRPr lang="en-US" sz="1850" dirty="0"/>
          </a:p>
        </p:txBody>
      </p:sp>
      <p:sp>
        <p:nvSpPr>
          <p:cNvPr id="65" name="Text 63"/>
          <p:cNvSpPr/>
          <p:nvPr/>
        </p:nvSpPr>
        <p:spPr>
          <a:xfrm>
            <a:off x="3383280" y="4818888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8091"/>
                </a:solidFill>
              </a:rPr>
              <a:t>Approval / segregation signals</a:t>
            </a:r>
            <a:endParaRPr lang="en-US" sz="720" dirty="0"/>
          </a:p>
        </p:txBody>
      </p:sp>
      <p:sp>
        <p:nvSpPr>
          <p:cNvPr id="66" name="Shape 64"/>
          <p:cNvSpPr/>
          <p:nvPr/>
        </p:nvSpPr>
        <p:spPr>
          <a:xfrm>
            <a:off x="5888736" y="4059936"/>
            <a:ext cx="2487168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8255">
            <a:solidFill>
              <a:srgbClr val="DDE6ED"/>
            </a:solidFill>
            <a:prstDash val="solid"/>
          </a:ln>
          <a:effectLst>
            <a:outerShdw sx="100000" sy="100000" kx="0" ky="0" algn="bl" rotWithShape="0" blurRad="12700" dist="50800" dir="2700000">
              <a:srgbClr val="B5C4CF">
                <a:alpha val="12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5888736" y="4059936"/>
            <a:ext cx="54864" cy="932688"/>
          </a:xfrm>
          <a:prstGeom prst="rect">
            <a:avLst/>
          </a:prstGeom>
          <a:solidFill>
            <a:srgbClr val="D95C3F"/>
          </a:solidFill>
          <a:ln w="12700">
            <a:solidFill>
              <a:srgbClr val="D95C3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044184" y="4224528"/>
            <a:ext cx="2231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3778A"/>
                </a:solidFill>
              </a:rPr>
              <a:t>HIGH-RISK PREMIUM</a:t>
            </a:r>
            <a:endParaRPr lang="en-US" sz="740" dirty="0"/>
          </a:p>
        </p:txBody>
      </p:sp>
      <p:sp>
        <p:nvSpPr>
          <p:cNvPr id="69" name="Text 67"/>
          <p:cNvSpPr/>
          <p:nvPr/>
        </p:nvSpPr>
        <p:spPr>
          <a:xfrm>
            <a:off x="6044184" y="4489704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7324D"/>
                </a:solidFill>
              </a:rPr>
              <a:t>SGD 15.42M</a:t>
            </a:r>
            <a:endParaRPr lang="en-US" sz="1850" dirty="0"/>
          </a:p>
        </p:txBody>
      </p:sp>
      <p:sp>
        <p:nvSpPr>
          <p:cNvPr id="70" name="Text 68"/>
          <p:cNvSpPr/>
          <p:nvPr/>
        </p:nvSpPr>
        <p:spPr>
          <a:xfrm>
            <a:off x="6044184" y="4818888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8091"/>
                </a:solidFill>
              </a:rPr>
              <a:t>Agent attrition exposure</a:t>
            </a:r>
            <a:endParaRPr lang="en-US" sz="720" dirty="0"/>
          </a:p>
        </p:txBody>
      </p:sp>
      <p:sp>
        <p:nvSpPr>
          <p:cNvPr id="71" name="Shape 69"/>
          <p:cNvSpPr/>
          <p:nvPr/>
        </p:nvSpPr>
        <p:spPr>
          <a:xfrm>
            <a:off x="8549640" y="4059936"/>
            <a:ext cx="2487168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8255">
            <a:solidFill>
              <a:srgbClr val="DDE6ED"/>
            </a:solidFill>
            <a:prstDash val="solid"/>
          </a:ln>
          <a:effectLst>
            <a:outerShdw sx="100000" sy="100000" kx="0" ky="0" algn="bl" rotWithShape="0" blurRad="12700" dist="50800" dir="2700000">
              <a:srgbClr val="B5C4CF">
                <a:alpha val="12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8549640" y="4059936"/>
            <a:ext cx="54864" cy="932688"/>
          </a:xfrm>
          <a:prstGeom prst="rect">
            <a:avLst/>
          </a:prstGeom>
          <a:solidFill>
            <a:srgbClr val="0C8F93"/>
          </a:solidFill>
          <a:ln w="12700">
            <a:solidFill>
              <a:srgbClr val="0C8F9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705088" y="4224528"/>
            <a:ext cx="2231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3778A"/>
                </a:solidFill>
              </a:rPr>
              <a:t>CUSTOMERS</a:t>
            </a:r>
            <a:endParaRPr lang="en-US" sz="740" dirty="0"/>
          </a:p>
        </p:txBody>
      </p:sp>
      <p:sp>
        <p:nvSpPr>
          <p:cNvPr id="74" name="Text 72"/>
          <p:cNvSpPr/>
          <p:nvPr/>
        </p:nvSpPr>
        <p:spPr>
          <a:xfrm>
            <a:off x="8705088" y="4489704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7324D"/>
                </a:solidFill>
              </a:rPr>
              <a:t>28,134</a:t>
            </a:r>
            <a:endParaRPr lang="en-US" sz="1850" dirty="0"/>
          </a:p>
        </p:txBody>
      </p:sp>
      <p:sp>
        <p:nvSpPr>
          <p:cNvPr id="75" name="Text 73"/>
          <p:cNvSpPr/>
          <p:nvPr/>
        </p:nvSpPr>
        <p:spPr>
          <a:xfrm>
            <a:off x="8705088" y="4818888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8091"/>
                </a:solidFill>
              </a:rPr>
              <a:t>Distinct customers</a:t>
            </a:r>
            <a:endParaRPr lang="en-US" sz="720" dirty="0"/>
          </a:p>
        </p:txBody>
      </p:sp>
      <p:sp>
        <p:nvSpPr>
          <p:cNvPr id="76" name="Shape 74"/>
          <p:cNvSpPr/>
          <p:nvPr/>
        </p:nvSpPr>
        <p:spPr>
          <a:xfrm>
            <a:off x="566928" y="5257800"/>
            <a:ext cx="40690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8255">
            <a:solidFill>
              <a:srgbClr val="DDE6E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31520" y="540410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7324D"/>
                </a:solidFill>
              </a:rPr>
              <a:t>APE mix by margin profile</a:t>
            </a:r>
            <a:endParaRPr lang="en-US" sz="840" dirty="0"/>
          </a:p>
        </p:txBody>
      </p:sp>
      <p:sp>
        <p:nvSpPr>
          <p:cNvPr id="78" name="Text 76"/>
          <p:cNvSpPr/>
          <p:nvPr/>
        </p:nvSpPr>
        <p:spPr>
          <a:xfrm>
            <a:off x="731520" y="5605272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E8091"/>
                </a:solidFill>
              </a:rPr>
              <a:t>Low-margin APE vs other APE</a:t>
            </a:r>
            <a:endParaRPr lang="en-US" sz="730" dirty="0"/>
          </a:p>
        </p:txBody>
      </p:sp>
      <p:graphicFrame>
        <p:nvGraphicFramePr>
          <p:cNvPr id="79" name="Chart 0" descr=""/>
          <p:cNvGraphicFramePr/>
          <p:nvPr/>
        </p:nvGraphicFramePr>
        <p:xfrm>
          <a:off x="786384" y="5486400"/>
          <a:ext cx="1097280" cy="640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0" name="Text 77"/>
          <p:cNvSpPr/>
          <p:nvPr/>
        </p:nvSpPr>
        <p:spPr>
          <a:xfrm>
            <a:off x="1773936" y="551383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73.48%</a:t>
            </a:r>
            <a:endParaRPr lang="en-US" sz="1500" dirty="0"/>
          </a:p>
        </p:txBody>
      </p:sp>
      <p:sp>
        <p:nvSpPr>
          <p:cNvPr id="81" name="Text 78"/>
          <p:cNvSpPr/>
          <p:nvPr/>
        </p:nvSpPr>
        <p:spPr>
          <a:xfrm>
            <a:off x="1719072" y="5769864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E8091"/>
                </a:solidFill>
              </a:rPr>
              <a:t>Low-margin APE</a:t>
            </a:r>
            <a:endParaRPr lang="en-US" sz="680" dirty="0"/>
          </a:p>
        </p:txBody>
      </p:sp>
      <p:sp>
        <p:nvSpPr>
          <p:cNvPr id="82" name="Text 79"/>
          <p:cNvSpPr/>
          <p:nvPr/>
        </p:nvSpPr>
        <p:spPr>
          <a:xfrm>
            <a:off x="2487168" y="5513832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324D"/>
                </a:solidFill>
              </a:rPr>
              <a:t>The portfolio is large enough that earnings quality, retention and trust should be managed together.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4800600" y="5257800"/>
            <a:ext cx="6812280" cy="1051560"/>
          </a:xfrm>
          <a:prstGeom prst="roundRect">
            <a:avLst>
              <a:gd name="adj" fmla="val 6087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5001768" y="5449824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5CED0"/>
                </a:solidFill>
              </a:rPr>
              <a:t>LEADERSHIP SIGNALS</a:t>
            </a:r>
            <a:endParaRPr lang="en-US" sz="720" dirty="0"/>
          </a:p>
        </p:txBody>
      </p:sp>
      <p:sp>
        <p:nvSpPr>
          <p:cNvPr id="85" name="Text 82"/>
          <p:cNvSpPr/>
          <p:nvPr/>
        </p:nvSpPr>
        <p:spPr>
          <a:xfrm>
            <a:off x="5001768" y="571500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73.48% low-margin mix</a:t>
            </a:r>
            <a:endParaRPr lang="en-US" sz="1000" dirty="0"/>
          </a:p>
        </p:txBody>
      </p:sp>
      <p:sp>
        <p:nvSpPr>
          <p:cNvPr id="86" name="Text 83"/>
          <p:cNvSpPr/>
          <p:nvPr/>
        </p:nvSpPr>
        <p:spPr>
          <a:xfrm>
            <a:off x="6986016" y="571500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9.48% lapse pressure</a:t>
            </a:r>
            <a:endParaRPr lang="en-US" sz="1000" dirty="0"/>
          </a:p>
        </p:txBody>
      </p:sp>
      <p:sp>
        <p:nvSpPr>
          <p:cNvPr id="87" name="Text 84"/>
          <p:cNvSpPr/>
          <p:nvPr/>
        </p:nvSpPr>
        <p:spPr>
          <a:xfrm>
            <a:off x="8750808" y="5715000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5.85% complaint rate</a:t>
            </a:r>
            <a:endParaRPr lang="en-US" sz="1000" dirty="0"/>
          </a:p>
        </p:txBody>
      </p:sp>
      <p:sp>
        <p:nvSpPr>
          <p:cNvPr id="88" name="Text 85"/>
          <p:cNvSpPr/>
          <p:nvPr/>
        </p:nvSpPr>
        <p:spPr>
          <a:xfrm>
            <a:off x="10405872" y="548640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C9D7E0"/>
                </a:solidFill>
              </a:rPr>
              <a:t>Use the dashboard as a quality-of-earnings cockpit, not a volume dashboard.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8D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</a:rPr>
              <a:t>Profitability &amp; Retention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8091"/>
                </a:solidFill>
              </a:rPr>
              <a:t>Commercial economics and the health-gap signal, side-by-side.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78308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8890">
            <a:solidFill>
              <a:srgbClr val="DD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89888"/>
            <a:ext cx="5852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b="1" dirty="0">
                <a:solidFill>
                  <a:srgbClr val="7C8E9F"/>
                </a:solidFill>
              </a:rPr>
              <a:t>PRODUCT</a:t>
            </a:r>
            <a:endParaRPr lang="en-US" sz="630" dirty="0"/>
          </a:p>
        </p:txBody>
      </p:sp>
      <p:sp>
        <p:nvSpPr>
          <p:cNvPr id="6" name="Text 4"/>
          <p:cNvSpPr/>
          <p:nvPr/>
        </p:nvSpPr>
        <p:spPr>
          <a:xfrm>
            <a:off x="1261872" y="1362456"/>
            <a:ext cx="9784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7324D"/>
                </a:solidFill>
              </a:rPr>
              <a:t>All products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2176272" y="136245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8091"/>
                </a:solidFill>
              </a:rPr>
              <a:t>▾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41448" y="1298448"/>
            <a:ext cx="16916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8890">
            <a:solidFill>
              <a:srgbClr val="DDE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32888" y="1389888"/>
            <a:ext cx="5852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b="1" dirty="0">
                <a:solidFill>
                  <a:srgbClr val="7C8E9F"/>
                </a:solidFill>
              </a:rPr>
              <a:t>KPI FOCUS</a:t>
            </a:r>
            <a:endParaRPr lang="en-US" sz="630" dirty="0"/>
          </a:p>
        </p:txBody>
      </p:sp>
      <p:sp>
        <p:nvSpPr>
          <p:cNvPr id="10" name="Text 8"/>
          <p:cNvSpPr/>
          <p:nvPr/>
        </p:nvSpPr>
        <p:spPr>
          <a:xfrm>
            <a:off x="3136392" y="1362456"/>
            <a:ext cx="886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7324D"/>
                </a:solidFill>
              </a:rPr>
              <a:t>All KPIs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3959352" y="136245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8091"/>
                </a:solidFill>
              </a:rPr>
              <a:t>▾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24528" y="1298448"/>
            <a:ext cx="196596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8890">
            <a:solidFill>
              <a:srgbClr val="DDE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15968" y="1389888"/>
            <a:ext cx="5852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b="1" dirty="0">
                <a:solidFill>
                  <a:srgbClr val="7C8E9F"/>
                </a:solidFill>
              </a:rPr>
              <a:t>DATA SCOPE</a:t>
            </a:r>
            <a:endParaRPr lang="en-US" sz="630" dirty="0"/>
          </a:p>
        </p:txBody>
      </p:sp>
      <p:sp>
        <p:nvSpPr>
          <p:cNvPr id="14" name="Text 12"/>
          <p:cNvSpPr/>
          <p:nvPr/>
        </p:nvSpPr>
        <p:spPr>
          <a:xfrm>
            <a:off x="4919472" y="1362456"/>
            <a:ext cx="1161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7324D"/>
                </a:solidFill>
              </a:rPr>
              <a:t>Governed snapshot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6016752" y="136245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8091"/>
                </a:solidFill>
              </a:rPr>
              <a:t>▾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66928" y="1792224"/>
            <a:ext cx="553212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8255">
            <a:solidFill>
              <a:srgbClr val="DDE6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1938528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7324D"/>
                </a:solidFill>
              </a:rPr>
              <a:t>Blended NBP margin by product category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731520" y="213969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E8091"/>
                </a:solidFill>
              </a:rPr>
              <a:t>Selected product is highlighted by the slicer.</a:t>
            </a:r>
            <a:endParaRPr lang="en-US" sz="73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841248" y="2240280"/>
          <a:ext cx="48920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6281928" y="1792224"/>
            <a:ext cx="5340096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8255">
            <a:solidFill>
              <a:srgbClr val="DDE6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46520" y="1938528"/>
            <a:ext cx="5020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7324D"/>
                </a:solidFill>
              </a:rPr>
              <a:t>Health gap — loss ratio vs care delay</a:t>
            </a:r>
            <a:endParaRPr lang="en-US" sz="840" dirty="0"/>
          </a:p>
        </p:txBody>
      </p:sp>
      <p:sp>
        <p:nvSpPr>
          <p:cNvPr id="22" name="Text 19"/>
          <p:cNvSpPr/>
          <p:nvPr/>
        </p:nvSpPr>
        <p:spPr>
          <a:xfrm>
            <a:off x="6446520" y="2139696"/>
            <a:ext cx="50200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E8091"/>
                </a:solidFill>
              </a:rPr>
              <a:t>Trend reproduced from the source report; intermediate points are visual-read approximations.</a:t>
            </a:r>
            <a:endParaRPr lang="en-US" sz="73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6583680" y="2313432"/>
          <a:ext cx="47091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Shape 20"/>
          <p:cNvSpPr/>
          <p:nvPr/>
        </p:nvSpPr>
        <p:spPr>
          <a:xfrm>
            <a:off x="566928" y="5715000"/>
            <a:ext cx="2496312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8255">
            <a:solidFill>
              <a:srgbClr val="DDE6ED"/>
            </a:solidFill>
            <a:prstDash val="solid"/>
          </a:ln>
          <a:effectLst>
            <a:outerShdw sx="100000" sy="100000" kx="0" ky="0" algn="bl" rotWithShape="0" blurRad="12700" dist="50800" dir="2700000">
              <a:srgbClr val="B5C4CF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66928" y="5715000"/>
            <a:ext cx="54864" cy="731520"/>
          </a:xfrm>
          <a:prstGeom prst="rect">
            <a:avLst/>
          </a:prstGeom>
          <a:solidFill>
            <a:srgbClr val="E8AF2D"/>
          </a:solidFill>
          <a:ln w="12700">
            <a:solidFill>
              <a:srgbClr val="E8AF2D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22376" y="587959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3778A"/>
                </a:solidFill>
              </a:rPr>
              <a:t>BLENDED MARGIN</a:t>
            </a:r>
            <a:endParaRPr lang="en-US" sz="740" dirty="0"/>
          </a:p>
        </p:txBody>
      </p:sp>
      <p:sp>
        <p:nvSpPr>
          <p:cNvPr id="27" name="Text 23"/>
          <p:cNvSpPr/>
          <p:nvPr/>
        </p:nvSpPr>
        <p:spPr>
          <a:xfrm>
            <a:off x="722376" y="61447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7324D"/>
                </a:solidFill>
              </a:rPr>
              <a:t>8.97%</a:t>
            </a:r>
            <a:endParaRPr lang="en-US" sz="1850" dirty="0"/>
          </a:p>
        </p:txBody>
      </p:sp>
      <p:sp>
        <p:nvSpPr>
          <p:cNvPr id="28" name="Text 24"/>
          <p:cNvSpPr/>
          <p:nvPr/>
        </p:nvSpPr>
        <p:spPr>
          <a:xfrm>
            <a:off x="722376" y="6473952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8091"/>
                </a:solidFill>
              </a:rPr>
              <a:t>New business profit / APE</a:t>
            </a:r>
            <a:endParaRPr lang="en-US" sz="720" dirty="0"/>
          </a:p>
        </p:txBody>
      </p:sp>
      <p:sp>
        <p:nvSpPr>
          <p:cNvPr id="29" name="Shape 25"/>
          <p:cNvSpPr/>
          <p:nvPr/>
        </p:nvSpPr>
        <p:spPr>
          <a:xfrm>
            <a:off x="3227832" y="5715000"/>
            <a:ext cx="2496312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8255">
            <a:solidFill>
              <a:srgbClr val="DDE6ED"/>
            </a:solidFill>
            <a:prstDash val="solid"/>
          </a:ln>
          <a:effectLst>
            <a:outerShdw sx="100000" sy="100000" kx="0" ky="0" algn="bl" rotWithShape="0" blurRad="12700" dist="50800" dir="2700000">
              <a:srgbClr val="B5C4CF">
                <a:alpha val="12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3227832" y="5715000"/>
            <a:ext cx="54864" cy="731520"/>
          </a:xfrm>
          <a:prstGeom prst="rect">
            <a:avLst/>
          </a:prstGeom>
          <a:solidFill>
            <a:srgbClr val="D95C3F"/>
          </a:solidFill>
          <a:ln w="12700">
            <a:solidFill>
              <a:srgbClr val="D95C3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383280" y="587959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3778A"/>
                </a:solidFill>
              </a:rPr>
              <a:t>LOW-MARGIN MIX</a:t>
            </a:r>
            <a:endParaRPr lang="en-US" sz="740" dirty="0"/>
          </a:p>
        </p:txBody>
      </p:sp>
      <p:sp>
        <p:nvSpPr>
          <p:cNvPr id="32" name="Text 28"/>
          <p:cNvSpPr/>
          <p:nvPr/>
        </p:nvSpPr>
        <p:spPr>
          <a:xfrm>
            <a:off x="3383280" y="61447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7324D"/>
                </a:solidFill>
              </a:rPr>
              <a:t>73.48%</a:t>
            </a:r>
            <a:endParaRPr lang="en-US" sz="1850" dirty="0"/>
          </a:p>
        </p:txBody>
      </p:sp>
      <p:sp>
        <p:nvSpPr>
          <p:cNvPr id="33" name="Text 29"/>
          <p:cNvSpPr/>
          <p:nvPr/>
        </p:nvSpPr>
        <p:spPr>
          <a:xfrm>
            <a:off x="3383280" y="6473952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8091"/>
                </a:solidFill>
              </a:rPr>
              <a:t>APE from low-margin products</a:t>
            </a:r>
            <a:endParaRPr lang="en-US" sz="720" dirty="0"/>
          </a:p>
        </p:txBody>
      </p:sp>
      <p:sp>
        <p:nvSpPr>
          <p:cNvPr id="34" name="Shape 30"/>
          <p:cNvSpPr/>
          <p:nvPr/>
        </p:nvSpPr>
        <p:spPr>
          <a:xfrm>
            <a:off x="5888736" y="5715000"/>
            <a:ext cx="2496312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8255">
            <a:solidFill>
              <a:srgbClr val="DDE6ED"/>
            </a:solidFill>
            <a:prstDash val="solid"/>
          </a:ln>
          <a:effectLst>
            <a:outerShdw sx="100000" sy="100000" kx="0" ky="0" algn="bl" rotWithShape="0" blurRad="12700" dist="50800" dir="2700000">
              <a:srgbClr val="B5C4CF">
                <a:alpha val="12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5888736" y="5715000"/>
            <a:ext cx="54864" cy="731520"/>
          </a:xfrm>
          <a:prstGeom prst="rect">
            <a:avLst/>
          </a:prstGeom>
          <a:solidFill>
            <a:srgbClr val="D95C3F"/>
          </a:solidFill>
          <a:ln w="12700">
            <a:solidFill>
              <a:srgbClr val="D95C3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044184" y="587959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3778A"/>
                </a:solidFill>
              </a:rPr>
              <a:t>LAPSE RATE</a:t>
            </a:r>
            <a:endParaRPr lang="en-US" sz="740" dirty="0"/>
          </a:p>
        </p:txBody>
      </p:sp>
      <p:sp>
        <p:nvSpPr>
          <p:cNvPr id="37" name="Text 33"/>
          <p:cNvSpPr/>
          <p:nvPr/>
        </p:nvSpPr>
        <p:spPr>
          <a:xfrm>
            <a:off x="6044184" y="61447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7324D"/>
                </a:solidFill>
              </a:rPr>
              <a:t>9.48%</a:t>
            </a:r>
            <a:endParaRPr lang="en-US" sz="1850" dirty="0"/>
          </a:p>
        </p:txBody>
      </p:sp>
      <p:sp>
        <p:nvSpPr>
          <p:cNvPr id="38" name="Text 34"/>
          <p:cNvSpPr/>
          <p:nvPr/>
        </p:nvSpPr>
        <p:spPr>
          <a:xfrm>
            <a:off x="6044184" y="6473952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8091"/>
                </a:solidFill>
              </a:rPr>
              <a:t>Policy retention pressure</a:t>
            </a:r>
            <a:endParaRPr lang="en-US" sz="720" dirty="0"/>
          </a:p>
        </p:txBody>
      </p:sp>
      <p:sp>
        <p:nvSpPr>
          <p:cNvPr id="39" name="Shape 35"/>
          <p:cNvSpPr/>
          <p:nvPr/>
        </p:nvSpPr>
        <p:spPr>
          <a:xfrm>
            <a:off x="8549640" y="5715000"/>
            <a:ext cx="2496312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8255">
            <a:solidFill>
              <a:srgbClr val="DDE6ED"/>
            </a:solidFill>
            <a:prstDash val="solid"/>
          </a:ln>
          <a:effectLst>
            <a:outerShdw sx="100000" sy="100000" kx="0" ky="0" algn="bl" rotWithShape="0" blurRad="12700" dist="50800" dir="2700000">
              <a:srgbClr val="B5C4CF">
                <a:alpha val="12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8549640" y="5715000"/>
            <a:ext cx="54864" cy="731520"/>
          </a:xfrm>
          <a:prstGeom prst="rect">
            <a:avLst/>
          </a:prstGeom>
          <a:solidFill>
            <a:srgbClr val="0C8F93"/>
          </a:solidFill>
          <a:ln w="12700">
            <a:solidFill>
              <a:srgbClr val="0C8F93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8705088" y="587959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3778A"/>
                </a:solidFill>
              </a:rPr>
              <a:t>13-MONTH FAILURE</a:t>
            </a:r>
            <a:endParaRPr lang="en-US" sz="740" dirty="0"/>
          </a:p>
        </p:txBody>
      </p:sp>
      <p:sp>
        <p:nvSpPr>
          <p:cNvPr id="42" name="Text 38"/>
          <p:cNvSpPr/>
          <p:nvPr/>
        </p:nvSpPr>
        <p:spPr>
          <a:xfrm>
            <a:off x="8705088" y="61447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7324D"/>
                </a:solidFill>
              </a:rPr>
              <a:t>5.59%</a:t>
            </a:r>
            <a:endParaRPr lang="en-US" sz="1850" dirty="0"/>
          </a:p>
        </p:txBody>
      </p:sp>
      <p:sp>
        <p:nvSpPr>
          <p:cNvPr id="43" name="Text 39"/>
          <p:cNvSpPr/>
          <p:nvPr/>
        </p:nvSpPr>
        <p:spPr>
          <a:xfrm>
            <a:off x="8705088" y="6473952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8091"/>
                </a:solidFill>
              </a:rPr>
              <a:t>Persistency gap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8D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</a:rPr>
              <a:t>Claims &amp; Customer Trust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8091"/>
                </a:solidFill>
              </a:rPr>
              <a:t>Turnaround, complaints, disputes and claims volume in one operating cockpit.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78308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8890">
            <a:solidFill>
              <a:srgbClr val="DD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89888"/>
            <a:ext cx="5852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b="1" dirty="0">
                <a:solidFill>
                  <a:srgbClr val="7C8E9F"/>
                </a:solidFill>
              </a:rPr>
              <a:t>PRODUCT</a:t>
            </a:r>
            <a:endParaRPr lang="en-US" sz="630" dirty="0"/>
          </a:p>
        </p:txBody>
      </p:sp>
      <p:sp>
        <p:nvSpPr>
          <p:cNvPr id="6" name="Text 4"/>
          <p:cNvSpPr/>
          <p:nvPr/>
        </p:nvSpPr>
        <p:spPr>
          <a:xfrm>
            <a:off x="1261872" y="1362456"/>
            <a:ext cx="9784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7324D"/>
                </a:solidFill>
              </a:rPr>
              <a:t>All products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2176272" y="136245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8091"/>
                </a:solidFill>
              </a:rPr>
              <a:t>▾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41448" y="1298448"/>
            <a:ext cx="16916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8890">
            <a:solidFill>
              <a:srgbClr val="DDE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32888" y="1389888"/>
            <a:ext cx="5852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b="1" dirty="0">
                <a:solidFill>
                  <a:srgbClr val="7C8E9F"/>
                </a:solidFill>
              </a:rPr>
              <a:t>KPI FOCUS</a:t>
            </a:r>
            <a:endParaRPr lang="en-US" sz="630" dirty="0"/>
          </a:p>
        </p:txBody>
      </p:sp>
      <p:sp>
        <p:nvSpPr>
          <p:cNvPr id="10" name="Text 8"/>
          <p:cNvSpPr/>
          <p:nvPr/>
        </p:nvSpPr>
        <p:spPr>
          <a:xfrm>
            <a:off x="3136392" y="1362456"/>
            <a:ext cx="886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7324D"/>
                </a:solidFill>
              </a:rPr>
              <a:t>All KPIs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3959352" y="136245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8091"/>
                </a:solidFill>
              </a:rPr>
              <a:t>▾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24528" y="1298448"/>
            <a:ext cx="196596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8890">
            <a:solidFill>
              <a:srgbClr val="DDE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15968" y="1389888"/>
            <a:ext cx="5852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b="1" dirty="0">
                <a:solidFill>
                  <a:srgbClr val="7C8E9F"/>
                </a:solidFill>
              </a:rPr>
              <a:t>DATA SCOPE</a:t>
            </a:r>
            <a:endParaRPr lang="en-US" sz="630" dirty="0"/>
          </a:p>
        </p:txBody>
      </p:sp>
      <p:sp>
        <p:nvSpPr>
          <p:cNvPr id="14" name="Text 12"/>
          <p:cNvSpPr/>
          <p:nvPr/>
        </p:nvSpPr>
        <p:spPr>
          <a:xfrm>
            <a:off x="4919472" y="1362456"/>
            <a:ext cx="1161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7324D"/>
                </a:solidFill>
              </a:rPr>
              <a:t>Governed snapshot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6016752" y="136245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8091"/>
                </a:solidFill>
              </a:rPr>
              <a:t>▾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66928" y="1792224"/>
            <a:ext cx="34290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8255">
            <a:solidFill>
              <a:srgbClr val="DDE6ED"/>
            </a:solidFill>
            <a:prstDash val="solid"/>
          </a:ln>
          <a:effectLst>
            <a:outerShdw sx="100000" sy="100000" kx="0" ky="0" algn="bl" rotWithShape="0" blurRad="12700" dist="50800" dir="2700000">
              <a:srgbClr val="B5C4CF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1792224"/>
            <a:ext cx="54864" cy="1005840"/>
          </a:xfrm>
          <a:prstGeom prst="rect">
            <a:avLst/>
          </a:prstGeom>
          <a:solidFill>
            <a:srgbClr val="0C8F93"/>
          </a:solidFill>
          <a:ln w="12700">
            <a:solidFill>
              <a:srgbClr val="0C8F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" y="1956816"/>
            <a:ext cx="3172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3778A"/>
                </a:solidFill>
              </a:rPr>
              <a:t>CLAIMS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722376" y="2221992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7324D"/>
                </a:solidFill>
              </a:rPr>
              <a:t>28,366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722376" y="2551176"/>
            <a:ext cx="3172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8091"/>
                </a:solidFill>
              </a:rPr>
              <a:t>Accepted claim records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4370832" y="1792224"/>
            <a:ext cx="34290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8255">
            <a:solidFill>
              <a:srgbClr val="DDE6ED"/>
            </a:solidFill>
            <a:prstDash val="solid"/>
          </a:ln>
          <a:effectLst>
            <a:outerShdw sx="100000" sy="100000" kx="0" ky="0" algn="bl" rotWithShape="0" blurRad="12700" dist="50800" dir="2700000">
              <a:srgbClr val="B5C4CF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70832" y="1792224"/>
            <a:ext cx="54864" cy="1005840"/>
          </a:xfrm>
          <a:prstGeom prst="rect">
            <a:avLst/>
          </a:prstGeom>
          <a:solidFill>
            <a:srgbClr val="E8AF2D"/>
          </a:solidFill>
          <a:ln w="12700">
            <a:solidFill>
              <a:srgbClr val="E8AF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1956816"/>
            <a:ext cx="3172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3778A"/>
                </a:solidFill>
              </a:rPr>
              <a:t>CLAIM SEVERITY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4526280" y="2221992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7324D"/>
                </a:solidFill>
              </a:rPr>
              <a:t>SGD 9K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4526280" y="2551176"/>
            <a:ext cx="3172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8091"/>
                </a:solidFill>
              </a:rPr>
              <a:t>Average claim amount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8174736" y="1792224"/>
            <a:ext cx="34290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8255">
            <a:solidFill>
              <a:srgbClr val="DDE6ED"/>
            </a:solidFill>
            <a:prstDash val="solid"/>
          </a:ln>
          <a:effectLst>
            <a:outerShdw sx="100000" sy="100000" kx="0" ky="0" algn="bl" rotWithShape="0" blurRad="12700" dist="50800" dir="2700000">
              <a:srgbClr val="B5C4CF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74736" y="1792224"/>
            <a:ext cx="54864" cy="1005840"/>
          </a:xfrm>
          <a:prstGeom prst="rect">
            <a:avLst/>
          </a:prstGeom>
          <a:solidFill>
            <a:srgbClr val="D95C3F"/>
          </a:solidFill>
          <a:ln w="12700">
            <a:solidFill>
              <a:srgbClr val="D95C3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30184" y="1956816"/>
            <a:ext cx="3172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3778A"/>
                </a:solidFill>
              </a:rPr>
              <a:t>COMPLAINT RATE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8330184" y="2221992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7324D"/>
                </a:solidFill>
              </a:rPr>
              <a:t>5.85%</a:t>
            </a:r>
            <a:endParaRPr lang="en-US" sz="1850" dirty="0"/>
          </a:p>
        </p:txBody>
      </p:sp>
      <p:sp>
        <p:nvSpPr>
          <p:cNvPr id="30" name="Text 28"/>
          <p:cNvSpPr/>
          <p:nvPr/>
        </p:nvSpPr>
        <p:spPr>
          <a:xfrm>
            <a:off x="8330184" y="2551176"/>
            <a:ext cx="3172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8091"/>
                </a:solidFill>
              </a:rPr>
              <a:t>Customer trust signal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566928" y="2999232"/>
            <a:ext cx="6492240" cy="2852928"/>
          </a:xfrm>
          <a:prstGeom prst="roundRect">
            <a:avLst>
              <a:gd name="adj" fmla="val 2244"/>
            </a:avLst>
          </a:prstGeom>
          <a:solidFill>
            <a:srgbClr val="FFFFFF"/>
          </a:solidFill>
          <a:ln w="8255">
            <a:solidFill>
              <a:srgbClr val="DDE6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3145536"/>
            <a:ext cx="6172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7324D"/>
                </a:solidFill>
              </a:rPr>
              <a:t>Trust &amp; control rate profile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731520" y="3346704"/>
            <a:ext cx="6172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E8091"/>
                </a:solidFill>
              </a:rPr>
              <a:t>Complaint, control-breach and dispute indicators.</a:t>
            </a:r>
            <a:endParaRPr lang="en-US" sz="73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896112" y="3456432"/>
          <a:ext cx="571500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5" name="Shape 32"/>
          <p:cNvSpPr/>
          <p:nvPr/>
        </p:nvSpPr>
        <p:spPr>
          <a:xfrm>
            <a:off x="7287768" y="2999232"/>
            <a:ext cx="4334256" cy="2852928"/>
          </a:xfrm>
          <a:prstGeom prst="roundRect">
            <a:avLst>
              <a:gd name="adj" fmla="val 2244"/>
            </a:avLst>
          </a:prstGeom>
          <a:solidFill>
            <a:srgbClr val="FFFFFF"/>
          </a:solidFill>
          <a:ln w="8255">
            <a:solidFill>
              <a:srgbClr val="DDE6E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452360" y="3145536"/>
            <a:ext cx="4014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7324D"/>
                </a:solidFill>
              </a:rPr>
              <a:t>Customer experience profile</a:t>
            </a:r>
            <a:endParaRPr lang="en-US" sz="840" dirty="0"/>
          </a:p>
        </p:txBody>
      </p:sp>
      <p:sp>
        <p:nvSpPr>
          <p:cNvPr id="37" name="Text 34"/>
          <p:cNvSpPr/>
          <p:nvPr/>
        </p:nvSpPr>
        <p:spPr>
          <a:xfrm>
            <a:off x="7452360" y="3346704"/>
            <a:ext cx="4014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E8091"/>
                </a:solidFill>
              </a:rPr>
              <a:t>Complaint-free share complements the reported complaint rate.</a:t>
            </a:r>
            <a:endParaRPr lang="en-US" sz="730" dirty="0"/>
          </a:p>
        </p:txBody>
      </p:sp>
      <p:graphicFrame>
        <p:nvGraphicFramePr>
          <p:cNvPr id="38" name="Chart 1" descr=""/>
          <p:cNvGraphicFramePr/>
          <p:nvPr/>
        </p:nvGraphicFramePr>
        <p:xfrm>
          <a:off x="7562088" y="3511296"/>
          <a:ext cx="187452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9" name="Text 35"/>
          <p:cNvSpPr/>
          <p:nvPr/>
        </p:nvSpPr>
        <p:spPr>
          <a:xfrm>
            <a:off x="8074152" y="400507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94.15%</a:t>
            </a:r>
            <a:endParaRPr lang="en-US" sz="1700" dirty="0"/>
          </a:p>
        </p:txBody>
      </p:sp>
      <p:sp>
        <p:nvSpPr>
          <p:cNvPr id="40" name="Text 36"/>
          <p:cNvSpPr/>
          <p:nvPr/>
        </p:nvSpPr>
        <p:spPr>
          <a:xfrm>
            <a:off x="8028432" y="4279392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E8091"/>
                </a:solidFill>
              </a:rPr>
              <a:t>Complaint-free</a:t>
            </a:r>
            <a:endParaRPr lang="en-US" sz="680" dirty="0"/>
          </a:p>
        </p:txBody>
      </p:sp>
      <p:sp>
        <p:nvSpPr>
          <p:cNvPr id="41" name="Text 37"/>
          <p:cNvSpPr/>
          <p:nvPr/>
        </p:nvSpPr>
        <p:spPr>
          <a:xfrm>
            <a:off x="9710928" y="37033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19.4 days</a:t>
            </a:r>
            <a:endParaRPr lang="en-US" sz="1700" dirty="0"/>
          </a:p>
        </p:txBody>
      </p:sp>
      <p:sp>
        <p:nvSpPr>
          <p:cNvPr id="42" name="Text 38"/>
          <p:cNvSpPr/>
          <p:nvPr/>
        </p:nvSpPr>
        <p:spPr>
          <a:xfrm>
            <a:off x="9710928" y="404164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8091"/>
                </a:solidFill>
              </a:rPr>
              <a:t>Average claim turnaround</a:t>
            </a:r>
            <a:endParaRPr lang="en-US" sz="700" dirty="0"/>
          </a:p>
        </p:txBody>
      </p:sp>
      <p:sp>
        <p:nvSpPr>
          <p:cNvPr id="43" name="Text 39"/>
          <p:cNvSpPr/>
          <p:nvPr/>
        </p:nvSpPr>
        <p:spPr>
          <a:xfrm>
            <a:off x="9710928" y="450799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1.57%</a:t>
            </a:r>
            <a:endParaRPr lang="en-US" sz="1700" dirty="0"/>
          </a:p>
        </p:txBody>
      </p:sp>
      <p:sp>
        <p:nvSpPr>
          <p:cNvPr id="44" name="Text 40"/>
          <p:cNvSpPr/>
          <p:nvPr/>
        </p:nvSpPr>
        <p:spPr>
          <a:xfrm>
            <a:off x="9710928" y="48463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8091"/>
                </a:solidFill>
              </a:rPr>
              <a:t>Dispute rate</a:t>
            </a:r>
            <a:endParaRPr lang="en-US" sz="700" dirty="0"/>
          </a:p>
        </p:txBody>
      </p:sp>
      <p:sp>
        <p:nvSpPr>
          <p:cNvPr id="45" name="Shape 41"/>
          <p:cNvSpPr/>
          <p:nvPr/>
        </p:nvSpPr>
        <p:spPr>
          <a:xfrm>
            <a:off x="566928" y="5998464"/>
            <a:ext cx="11055096" cy="347472"/>
          </a:xfrm>
          <a:prstGeom prst="roundRect">
            <a:avLst>
              <a:gd name="adj" fmla="val 10526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758952" y="6108192"/>
            <a:ext cx="10652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Claims operations become a commercial KPI when turnaround, complaints and disputes are monitored together.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8D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Prudential Singapore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Prudential Singapore | Business KPI Command Center</dc:title>
  <dc:subject>Prudential Singapore Business KPI Dashboard</dc:subject>
  <dc:creator>OpenAI</dc:creator>
  <cp:lastModifiedBy>OpenAI</cp:lastModifiedBy>
  <cp:revision>1</cp:revision>
  <dcterms:created xsi:type="dcterms:W3CDTF">2026-09-17T06:58:33Z</dcterms:created>
  <dcterms:modified xsi:type="dcterms:W3CDTF">2026-09-17T06:58:33Z</dcterms:modified>
</cp:coreProperties>
</file>